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2" r:id="rId3"/>
    <p:sldId id="263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74" r:id="rId12"/>
    <p:sldId id="275" r:id="rId13"/>
    <p:sldId id="276" r:id="rId14"/>
  </p:sldIdLst>
  <p:sldSz cx="12192000" cy="6858000"/>
  <p:notesSz cx="6858000" cy="9144000"/>
  <p:defaultTextStyle>
    <a:defPPr rtl="0"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5B690A3-409B-4C60-8774-D83BBF1D5E25}" type="datetime1">
              <a:rPr lang="sv-SE" smtClean="0"/>
              <a:t>2026-03-08</a:t>
            </a:fld>
            <a:endParaRPr lang="en-US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A0926D-002E-4B34-B1CE-35227E9D7A0D}" type="datetime1">
              <a:rPr lang="sv-SE" smtClean="0"/>
              <a:t>2026-03-08</a:t>
            </a:fld>
            <a:endParaRPr lang="en-US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sv-se"/>
              <a:t>Klicka för att redigera format för bakgrundstext</a:t>
            </a:r>
            <a:endParaRPr lang="en-US"/>
          </a:p>
          <a:p>
            <a:pPr lvl="1" rtl="0"/>
            <a:r>
              <a:rPr lang="sv-se"/>
              <a:t>Nivå två</a:t>
            </a:r>
          </a:p>
          <a:p>
            <a:pPr lvl="2" rtl="0"/>
            <a:r>
              <a:rPr lang="sv-se"/>
              <a:t>Nivå tre</a:t>
            </a:r>
          </a:p>
          <a:p>
            <a:pPr lvl="3" rtl="0"/>
            <a:r>
              <a:rPr lang="sv-se"/>
              <a:t>Nivå fyra</a:t>
            </a:r>
          </a:p>
          <a:p>
            <a:pPr lvl="4" rtl="0"/>
            <a:r>
              <a:rPr lang="sv-se"/>
              <a:t>Nivå fem</a:t>
            </a:r>
            <a:endParaRPr lang="en-US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ulär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Rektangulär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ktangulär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ktangulär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up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Rak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ak koppling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Rak koppling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Platshållare för datum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88AF18D4-0880-41B2-9BC9-0D5D2DC91318}" type="datetime1">
              <a:rPr lang="sv-SE" smtClean="0"/>
              <a:t>2026-03-08</a:t>
            </a:fld>
            <a:endParaRPr lang="en-US" dirty="0"/>
          </a:p>
        </p:txBody>
      </p:sp>
      <p:sp>
        <p:nvSpPr>
          <p:cNvPr id="21" name="Platshållare för sidfot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Platshållare för bildnumm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BCF48A-3C49-476F-B51C-855F10854659}" type="datetime1">
              <a:rPr lang="sv-SE" smtClean="0"/>
              <a:t>2026-03-08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ktangulär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Rektangulär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ktangulär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ktangulär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up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Rak koppling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ak koppling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Rak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093F6481-F449-4DD2-9DAD-30D11F5E4D22}" type="datetime1">
              <a:rPr lang="sv-SE" smtClean="0"/>
              <a:t>2026-03-08</a:t>
            </a:fld>
            <a:endParaRPr lang="en-US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7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sv-se" dirty="0"/>
              <a:t>Klicka för att ändra formatet för bakgrundsrubriken</a:t>
            </a:r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sv-se" dirty="0"/>
              <a:t>Klicka för att redigera format för bakgrundstext</a:t>
            </a:r>
          </a:p>
          <a:p>
            <a:pPr lvl="1" rtl="0"/>
            <a:r>
              <a:rPr lang="sv-se" dirty="0"/>
              <a:t>Nivå två</a:t>
            </a:r>
          </a:p>
          <a:p>
            <a:pPr lvl="2" rtl="0"/>
            <a:r>
              <a:rPr lang="sv-se" dirty="0"/>
              <a:t>Nivå tre</a:t>
            </a:r>
          </a:p>
          <a:p>
            <a:pPr lvl="3" rtl="0"/>
            <a:r>
              <a:rPr lang="sv-se" dirty="0"/>
              <a:t>Nivå fyra</a:t>
            </a:r>
          </a:p>
          <a:p>
            <a:pPr lvl="4" rtl="0"/>
            <a:r>
              <a:rPr lang="sv-se" dirty="0"/>
              <a:t>Nivå fem</a:t>
            </a:r>
            <a:endParaRPr lang="en-US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0F24BE-6072-4B7A-81D8-A955CA6ADCDA}" type="datetime1">
              <a:rPr lang="sv-SE" smtClean="0"/>
              <a:t>2026-03-08</a:t>
            </a:fld>
            <a:endParaRPr lang="en-US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sv-se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sv-se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8FEDDC-1E64-4193-B712-7D88AD9AE145}" type="datetime1">
              <a:rPr lang="sv-SE" smtClean="0"/>
              <a:t>2026-03-08</a:t>
            </a:fld>
            <a:endParaRPr lang="en-US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EA592A-E5DF-423F-83B6-FE6729183DCF}" type="datetime1">
              <a:rPr lang="sv-SE" smtClean="0"/>
              <a:t>2026-03-08</a:t>
            </a:fld>
            <a:endParaRPr lang="en-US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7855A4-7483-489B-A6EC-0CC400A5E450}" type="datetime1">
              <a:rPr lang="sv-SE" smtClean="0"/>
              <a:t>2026-03-08</a:t>
            </a:fld>
            <a:endParaRPr lang="en-US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ulär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ktangulär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8452184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sv-se" dirty="0"/>
              <a:t>Klicka här för att ändra format</a:t>
            </a:r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BAF3677F-CAE5-4612-A49C-E4AB1BDDD2C9}" type="datetime1">
              <a:rPr lang="sv-SE" smtClean="0"/>
              <a:t>2026-03-08</a:t>
            </a:fld>
            <a:endParaRPr lang="en-US"/>
          </a:p>
        </p:txBody>
      </p:sp>
      <p:sp>
        <p:nvSpPr>
          <p:cNvPr id="9" name="Platshållare för sidfot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Platshållare för bildnumm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ulär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latshållare för bild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5AB1348B-C229-4023-A080-65BEF8E6075E}" type="datetime1">
              <a:rPr lang="sv-SE" smtClean="0"/>
              <a:t>2026-03-08</a:t>
            </a:fld>
            <a:endParaRPr lang="en-US" dirty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ktangulär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sv-se" dirty="0"/>
              <a:t>Klicka här för att ändra format</a:t>
            </a:r>
            <a:endParaRPr lang="en-US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latshållare 2 för vertikal text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CA1077-392C-47A9-91C7-36B179F8EF5D}" type="datetime1">
              <a:rPr lang="sv-SE" smtClean="0"/>
              <a:t>2026-03-08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latshållare 2 för vertikal text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CC793C-4937-4DF4-857A-137ADDAD52DB}" type="datetime1">
              <a:rPr lang="sv-SE" smtClean="0"/>
              <a:t>2026-03-08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ktangulär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ktangel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ktangel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sv-se"/>
              <a:t>Klicka här för att ändra format</a:t>
            </a:r>
            <a:endParaRPr lang="en-US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sv-se"/>
              <a:t>Redigera format för bakgrundstext</a:t>
            </a:r>
          </a:p>
          <a:p>
            <a:pPr lvl="1" rtl="0"/>
            <a:r>
              <a:rPr lang="sv-se"/>
              <a:t>Nivå två</a:t>
            </a:r>
          </a:p>
          <a:p>
            <a:pPr lvl="2" rtl="0"/>
            <a:r>
              <a:rPr lang="sv-se"/>
              <a:t>Nivå tre</a:t>
            </a:r>
          </a:p>
          <a:p>
            <a:pPr lvl="3" rtl="0"/>
            <a:r>
              <a:rPr lang="sv-se"/>
              <a:t>Nivå fyra</a:t>
            </a:r>
          </a:p>
          <a:p>
            <a:pPr lvl="4" rtl="0"/>
            <a:r>
              <a:rPr lang="sv-se"/>
              <a:t>Nivå fem</a:t>
            </a:r>
            <a:endParaRPr lang="en-US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F56667E-CDD7-4D35-9AC0-6C3E87184355}" type="datetime1">
              <a:rPr lang="sv-SE" smtClean="0"/>
              <a:t>2026-03-08</a:t>
            </a:fld>
            <a:endParaRPr lang="en-US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 descr="En närbild av en logotyp&#10;&#10;Automatiskt skapad beskrivning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Rektangulär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ktangulär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sv-SE" sz="3000" dirty="0">
                <a:solidFill>
                  <a:schemeClr val="tx1"/>
                </a:solidFill>
              </a:rPr>
              <a:t>Predicting</a:t>
            </a:r>
            <a:r>
              <a:rPr lang="sv-se" sz="3000" dirty="0">
                <a:solidFill>
                  <a:schemeClr val="tx1"/>
                </a:solidFill>
              </a:rPr>
              <a:t> customer churn in teleccomunations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7"/>
            <a:ext cx="4775075" cy="712083"/>
          </a:xfrm>
        </p:spPr>
        <p:txBody>
          <a:bodyPr rtlCol="0">
            <a:normAutofit fontScale="62500" lnSpcReduction="20000"/>
          </a:bodyPr>
          <a:lstStyle/>
          <a:p>
            <a:pPr rtl="0">
              <a:spcAft>
                <a:spcPts val="600"/>
              </a:spcAft>
            </a:pPr>
            <a:r>
              <a:rPr lang="sv-SE" b="1" dirty="0">
                <a:solidFill>
                  <a:schemeClr val="tx1"/>
                </a:solidFill>
              </a:rPr>
              <a:t>Group 3</a:t>
            </a:r>
          </a:p>
          <a:p>
            <a:pPr rtl="0">
              <a:spcAft>
                <a:spcPts val="600"/>
              </a:spcAft>
            </a:pPr>
            <a:r>
              <a:rPr lang="sv-SE" dirty="0">
                <a:solidFill>
                  <a:schemeClr val="tx1"/>
                </a:solidFill>
              </a:rPr>
              <a:t>Oguz Bokzkurt, Gehad Mohamed, Gabriel Titeux,</a:t>
            </a:r>
          </a:p>
          <a:p>
            <a:pPr rtl="0">
              <a:spcAft>
                <a:spcPts val="600"/>
              </a:spcAft>
            </a:pPr>
            <a:r>
              <a:rPr lang="sv-SE" dirty="0">
                <a:solidFill>
                  <a:schemeClr val="tx1"/>
                </a:solidFill>
              </a:rPr>
              <a:t>Abdalrhman Dabor, Jonathan Bergkvist</a:t>
            </a:r>
            <a:endParaRPr lang="sv-s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Application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A043-8C16-9585-93E9-F2C73EFD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Telecommunications Industry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Telecom companies face strong competition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Customers can easily switch providers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Losing customers leads to revenue loss and acquisition costs</a:t>
            </a:r>
          </a:p>
          <a:p>
            <a:r>
              <a:rPr lang="en-US" sz="2000" b="1" dirty="0"/>
              <a:t>Goal: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Use predictive analytics to identify customers at risk of churn.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8811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A043-8C16-9585-93E9-F2C73EFD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Telecommunications Industry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Customer churn reduces long-term revenue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Retaining customers is often cheaper than acquiring new ones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Early identification of churn risk enables proactive retention strategies</a:t>
            </a:r>
          </a:p>
          <a:p>
            <a:r>
              <a:rPr lang="en-US" sz="2000" b="1" dirty="0"/>
              <a:t>Objective: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Develop a predictive model to identify customers likely to churn.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63326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Potential Analytical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A043-8C16-9585-93E9-F2C73EFD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Two Possible Solutions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Solution 1: Churn Prediction Model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500" dirty="0"/>
              <a:t>Predict if a customer will churn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Solution 2: Churn Timing Model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500" dirty="0"/>
              <a:t>Predict when customers are likely to churn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949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Solution Comparison and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A043-8C16-9585-93E9-F2C73EFD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Selected solution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Churn prediction model due to higher data availability and simpler implementation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7C1A66-CA9F-E504-2B8B-BB038FEBAD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6304723"/>
              </p:ext>
            </p:extLst>
          </p:nvPr>
        </p:nvGraphicFramePr>
        <p:xfrm>
          <a:off x="1646464" y="3628377"/>
          <a:ext cx="8899071" cy="146304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3009900">
                  <a:extLst>
                    <a:ext uri="{9D8B030D-6E8A-4147-A177-3AD203B41FA5}">
                      <a16:colId xmlns:a16="http://schemas.microsoft.com/office/drawing/2014/main" val="3053043753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3895016742"/>
                    </a:ext>
                  </a:extLst>
                </a:gridCol>
                <a:gridCol w="3184071">
                  <a:extLst>
                    <a:ext uri="{9D8B030D-6E8A-4147-A177-3AD203B41FA5}">
                      <a16:colId xmlns:a16="http://schemas.microsoft.com/office/drawing/2014/main" val="35987249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sv-SE" dirty="0"/>
                        <a:t>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Churn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/>
                        <a:t>Churn Timing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622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v-SE"/>
                        <a:t>Data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250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v-SE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9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v-SE"/>
                        <a:t>Business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/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More 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610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50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A043-8C16-9585-93E9-F2C73EFD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Dataset Characteristics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7,043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21 variables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7,032 records after cleaning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Target variable: Churn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A57582-B99A-CC7A-C759-C0786753D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5" y="1932416"/>
            <a:ext cx="5600741" cy="419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10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A043-8C16-9585-93E9-F2C73EFD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Data preparation steps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Converted </a:t>
            </a:r>
            <a:r>
              <a:rPr lang="en-US" sz="1600" b="1" dirty="0" err="1"/>
              <a:t>TotalCharges</a:t>
            </a:r>
            <a:r>
              <a:rPr lang="en-US" sz="1600" dirty="0"/>
              <a:t> to numeric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Removed invalid rows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Removed </a:t>
            </a:r>
            <a:r>
              <a:rPr lang="en-US" sz="1600" b="1" dirty="0" err="1"/>
              <a:t>customerID</a:t>
            </a:r>
            <a:r>
              <a:rPr lang="en-US" sz="16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One-hot encoding for categorical features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Standardized numerical features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Train/test split (80/20)</a:t>
            </a:r>
          </a:p>
        </p:txBody>
      </p:sp>
    </p:spTree>
    <p:extLst>
      <p:ext uri="{BB962C8B-B14F-4D97-AF65-F5344CB8AC3E}">
        <p14:creationId xmlns:p14="http://schemas.microsoft.com/office/powerpoint/2010/main" val="119189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Predictive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A043-8C16-9585-93E9-F2C73EFD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Model 1: Logistic Regression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L2 regularization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 = 1.0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max_iter</a:t>
            </a:r>
            <a:r>
              <a:rPr lang="en-US" sz="1600" dirty="0"/>
              <a:t> = 1000</a:t>
            </a:r>
          </a:p>
          <a:p>
            <a:r>
              <a:rPr lang="en-US" sz="2000" b="1" dirty="0"/>
              <a:t>Model 2: Gradient Boosted Decision Trees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n_estimators</a:t>
            </a:r>
            <a:r>
              <a:rPr lang="en-US" sz="1600" dirty="0"/>
              <a:t> = 200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learning_rate</a:t>
            </a:r>
            <a:r>
              <a:rPr lang="en-US" sz="1600" dirty="0"/>
              <a:t> = 0.05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max_depth</a:t>
            </a:r>
            <a:r>
              <a:rPr lang="en-US" sz="1600" dirty="0"/>
              <a:t> = 3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0089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A043-8C16-9585-93E9-F2C73EFD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Evaluation metrics: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Accuracy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Precision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Recall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F1-score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ROC-AUC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5C1578-DF7E-3BBE-D1D6-2CC5A751A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251164"/>
              </p:ext>
            </p:extLst>
          </p:nvPr>
        </p:nvGraphicFramePr>
        <p:xfrm>
          <a:off x="1132114" y="4375722"/>
          <a:ext cx="4800599" cy="167640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1198997">
                  <a:extLst>
                    <a:ext uri="{9D8B030D-6E8A-4147-A177-3AD203B41FA5}">
                      <a16:colId xmlns:a16="http://schemas.microsoft.com/office/drawing/2014/main" val="3251732935"/>
                    </a:ext>
                  </a:extLst>
                </a:gridCol>
                <a:gridCol w="1162105">
                  <a:extLst>
                    <a:ext uri="{9D8B030D-6E8A-4147-A177-3AD203B41FA5}">
                      <a16:colId xmlns:a16="http://schemas.microsoft.com/office/drawing/2014/main" val="3944613726"/>
                    </a:ext>
                  </a:extLst>
                </a:gridCol>
                <a:gridCol w="2439497">
                  <a:extLst>
                    <a:ext uri="{9D8B030D-6E8A-4147-A177-3AD203B41FA5}">
                      <a16:colId xmlns:a16="http://schemas.microsoft.com/office/drawing/2014/main" val="24123637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Logistic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600" dirty="0">
                          <a:solidFill>
                            <a:sysClr val="windowText" lastClr="000000"/>
                          </a:solidFill>
                        </a:rPr>
                        <a:t>Gradient Boosting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81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0.804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600" dirty="0">
                          <a:solidFill>
                            <a:sysClr val="windowText" lastClr="000000"/>
                          </a:solidFill>
                        </a:rPr>
                        <a:t>0.792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66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0.572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600" dirty="0">
                          <a:solidFill>
                            <a:sysClr val="windowText" lastClr="000000"/>
                          </a:solidFill>
                        </a:rPr>
                        <a:t>0.529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912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0.608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0.576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22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600">
                          <a:solidFill>
                            <a:sysClr val="windowText" lastClr="000000"/>
                          </a:solidFill>
                        </a:rPr>
                        <a:t>0.836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600" dirty="0">
                          <a:solidFill>
                            <a:sysClr val="windowText" lastClr="000000"/>
                          </a:solidFill>
                        </a:rPr>
                        <a:t>0.839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7176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6DBC416-5DB6-6400-31CA-935F9229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372376"/>
            <a:ext cx="4881582" cy="374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68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Drivers of Customer Churn</a:t>
            </a:r>
            <a:endParaRPr lang="sv-SE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5C5274D-DEA6-C9A2-5D2A-3107582EB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315004"/>
              </p:ext>
            </p:extLst>
          </p:nvPr>
        </p:nvGraphicFramePr>
        <p:xfrm>
          <a:off x="1066800" y="2103438"/>
          <a:ext cx="9205773" cy="3849687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3068591">
                  <a:extLst>
                    <a:ext uri="{9D8B030D-6E8A-4147-A177-3AD203B41FA5}">
                      <a16:colId xmlns:a16="http://schemas.microsoft.com/office/drawing/2014/main" val="2118249238"/>
                    </a:ext>
                  </a:extLst>
                </a:gridCol>
                <a:gridCol w="3068591">
                  <a:extLst>
                    <a:ext uri="{9D8B030D-6E8A-4147-A177-3AD203B41FA5}">
                      <a16:colId xmlns:a16="http://schemas.microsoft.com/office/drawing/2014/main" val="138327427"/>
                    </a:ext>
                  </a:extLst>
                </a:gridCol>
                <a:gridCol w="3068591">
                  <a:extLst>
                    <a:ext uri="{9D8B030D-6E8A-4147-A177-3AD203B41FA5}">
                      <a16:colId xmlns:a16="http://schemas.microsoft.com/office/drawing/2014/main" val="1857441162"/>
                    </a:ext>
                  </a:extLst>
                </a:gridCol>
              </a:tblGrid>
              <a:tr h="334755">
                <a:tc>
                  <a:txBody>
                    <a:bodyPr/>
                    <a:lstStyle/>
                    <a:p>
                      <a:r>
                        <a:rPr lang="sv-SE" sz="1600" dirty="0"/>
                        <a:t>Feature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sv-SE" sz="1600"/>
                        <a:t>Impact on Churn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sv-SE" sz="1600"/>
                        <a:t>Interpretation</a:t>
                      </a:r>
                    </a:p>
                  </a:txBody>
                  <a:tcPr marL="83689" marR="83689" marT="41844" marB="41844" anchor="ctr"/>
                </a:tc>
                <a:extLst>
                  <a:ext uri="{0D108BD9-81ED-4DB2-BD59-A6C34878D82A}">
                    <a16:rowId xmlns:a16="http://schemas.microsoft.com/office/drawing/2014/main" val="3251495674"/>
                  </a:ext>
                </a:extLst>
              </a:tr>
              <a:tr h="585822">
                <a:tc>
                  <a:txBody>
                    <a:bodyPr/>
                    <a:lstStyle/>
                    <a:p>
                      <a:r>
                        <a:rPr lang="sv-SE" sz="1600" b="1" dirty="0"/>
                        <a:t>tenure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sv-SE" sz="1600"/>
                        <a:t>Strong negative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Customers who stay longer are less likely to churn</a:t>
                      </a:r>
                    </a:p>
                  </a:txBody>
                  <a:tcPr marL="83689" marR="83689" marT="41844" marB="41844" anchor="ctr"/>
                </a:tc>
                <a:extLst>
                  <a:ext uri="{0D108BD9-81ED-4DB2-BD59-A6C34878D82A}">
                    <a16:rowId xmlns:a16="http://schemas.microsoft.com/office/drawing/2014/main" val="4003110554"/>
                  </a:ext>
                </a:extLst>
              </a:tr>
              <a:tr h="585822">
                <a:tc>
                  <a:txBody>
                    <a:bodyPr/>
                    <a:lstStyle/>
                    <a:p>
                      <a:r>
                        <a:rPr lang="sv-SE" sz="1600" b="1" dirty="0"/>
                        <a:t>Contract_Two year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sv-SE" sz="1600"/>
                        <a:t>Negative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Long-term contracts increase customer retention</a:t>
                      </a:r>
                    </a:p>
                  </a:txBody>
                  <a:tcPr marL="83689" marR="83689" marT="41844" marB="41844" anchor="ctr"/>
                </a:tc>
                <a:extLst>
                  <a:ext uri="{0D108BD9-81ED-4DB2-BD59-A6C34878D82A}">
                    <a16:rowId xmlns:a16="http://schemas.microsoft.com/office/drawing/2014/main" val="1972579043"/>
                  </a:ext>
                </a:extLst>
              </a:tr>
              <a:tr h="585822">
                <a:tc>
                  <a:txBody>
                    <a:bodyPr/>
                    <a:lstStyle/>
                    <a:p>
                      <a:r>
                        <a:rPr lang="sv-SE" sz="1600" b="1"/>
                        <a:t>Contract_Month-to-month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sv-SE" sz="1600"/>
                        <a:t>Positive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Flexible contracts increase churn risk</a:t>
                      </a:r>
                    </a:p>
                  </a:txBody>
                  <a:tcPr marL="83689" marR="83689" marT="41844" marB="41844" anchor="ctr"/>
                </a:tc>
                <a:extLst>
                  <a:ext uri="{0D108BD9-81ED-4DB2-BD59-A6C34878D82A}">
                    <a16:rowId xmlns:a16="http://schemas.microsoft.com/office/drawing/2014/main" val="1623482476"/>
                  </a:ext>
                </a:extLst>
              </a:tr>
              <a:tr h="585822">
                <a:tc>
                  <a:txBody>
                    <a:bodyPr/>
                    <a:lstStyle/>
                    <a:p>
                      <a:r>
                        <a:rPr lang="sv-SE" sz="1600" b="1" dirty="0"/>
                        <a:t>MonthlyCharges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sv-SE" sz="1600"/>
                        <a:t>Negative relationship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Higher monthly costs influence churn behaviour</a:t>
                      </a:r>
                    </a:p>
                  </a:txBody>
                  <a:tcPr marL="83689" marR="83689" marT="41844" marB="41844" anchor="ctr"/>
                </a:tc>
                <a:extLst>
                  <a:ext uri="{0D108BD9-81ED-4DB2-BD59-A6C34878D82A}">
                    <a16:rowId xmlns:a16="http://schemas.microsoft.com/office/drawing/2014/main" val="1521300559"/>
                  </a:ext>
                </a:extLst>
              </a:tr>
              <a:tr h="585822">
                <a:tc>
                  <a:txBody>
                    <a:bodyPr/>
                    <a:lstStyle/>
                    <a:p>
                      <a:r>
                        <a:rPr lang="sv-SE" sz="1600" b="1"/>
                        <a:t>InternetService_Fiber optic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sv-SE" sz="1600"/>
                        <a:t>Positive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Fiber users may churn more due to price or competition</a:t>
                      </a:r>
                    </a:p>
                  </a:txBody>
                  <a:tcPr marL="83689" marR="83689" marT="41844" marB="41844" anchor="ctr"/>
                </a:tc>
                <a:extLst>
                  <a:ext uri="{0D108BD9-81ED-4DB2-BD59-A6C34878D82A}">
                    <a16:rowId xmlns:a16="http://schemas.microsoft.com/office/drawing/2014/main" val="3413501676"/>
                  </a:ext>
                </a:extLst>
              </a:tr>
              <a:tr h="585822">
                <a:tc>
                  <a:txBody>
                    <a:bodyPr/>
                    <a:lstStyle/>
                    <a:p>
                      <a:r>
                        <a:rPr lang="sv-SE" sz="1600" b="1" dirty="0"/>
                        <a:t>TotalCharges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sv-SE" sz="1600"/>
                        <a:t>Positive</a:t>
                      </a:r>
                    </a:p>
                  </a:txBody>
                  <a:tcPr marL="83689" marR="83689" marT="41844" marB="41844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Reflects longer service usage but also billing effects</a:t>
                      </a:r>
                    </a:p>
                  </a:txBody>
                  <a:tcPr marL="83689" marR="83689" marT="41844" marB="41844" anchor="ctr"/>
                </a:tc>
                <a:extLst>
                  <a:ext uri="{0D108BD9-81ED-4DB2-BD59-A6C34878D82A}">
                    <a16:rowId xmlns:a16="http://schemas.microsoft.com/office/drawing/2014/main" val="3622990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628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8A17-44A4-FA87-0B5F-ECFC12ED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Drivers of Customer Churn (cont.)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388A-086C-9EA3-2BB6-3F5E6AD4ED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b="1" dirty="0"/>
              <a:t>Key Factors Influencing Customer Churn (Logistic Regression)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Month-to-month contracts show the highest churn risk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Long tenure and two-year contracts increase loyalty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Higher monthly charges and fiber internet are linked to higher churn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Promoting long-term contracts could help reduce churn</a:t>
            </a:r>
          </a:p>
          <a:p>
            <a:endParaRPr lang="sv-SE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0371A91-FAA6-CEF8-EEA4-6D51750D7E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33319" y="2432371"/>
            <a:ext cx="5425923" cy="3090538"/>
          </a:xfrm>
        </p:spPr>
      </p:pic>
    </p:spTree>
    <p:extLst>
      <p:ext uri="{BB962C8B-B14F-4D97-AF65-F5344CB8AC3E}">
        <p14:creationId xmlns:p14="http://schemas.microsoft.com/office/powerpoint/2010/main" val="1493699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A043-8C16-9585-93E9-F2C73EFD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Key Insights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Churn can be predicted with reasonable accuracy using customer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Logistic Regression performed competitively with a more complex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Model interpretability supports business decision-making</a:t>
            </a:r>
          </a:p>
          <a:p>
            <a:r>
              <a:rPr lang="en-US" sz="2000" b="1" dirty="0"/>
              <a:t>Key Insights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Include additional behavioral features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Incorporate retention campaign data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Apply uplift modeling for targeted 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3995893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1606-1F59-CC64-4C49-1405534B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Distribution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A043-8C16-9585-93E9-F2C73EFD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Distribution of work among group members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Jonathan </a:t>
            </a:r>
            <a:r>
              <a:rPr lang="en-US" sz="1600" dirty="0" err="1"/>
              <a:t>Bergkvist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Oguz</a:t>
            </a:r>
            <a:r>
              <a:rPr lang="en-US" sz="1600" dirty="0"/>
              <a:t> Bozkurt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Abdalrhman</a:t>
            </a:r>
            <a:r>
              <a:rPr lang="en-US" sz="1600" dirty="0"/>
              <a:t> </a:t>
            </a:r>
            <a:r>
              <a:rPr lang="en-US" sz="1600" dirty="0" err="1"/>
              <a:t>Dabor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Gehad</a:t>
            </a:r>
            <a:r>
              <a:rPr lang="en-US" sz="1600" dirty="0"/>
              <a:t> Mohamed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Gabriel </a:t>
            </a:r>
            <a:r>
              <a:rPr lang="en-US" sz="1600" dirty="0" err="1"/>
              <a:t>Titeux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71915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064_TF78438558" id="{1EAD8B13-4428-428F-8D34-5C9E93ED1256}" vid="{D459F41A-CF0D-4BEF-BAB9-8BF227BE0B0C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{6962DF20-539D-40E4-9A19-B76EF01E8501}TF8a9b5915-b8c7-461e-8cdd-693d48b5e323665a0765_win32-3baa0ccef428</Template>
  <TotalTime>232</TotalTime>
  <Words>459</Words>
  <Application>Microsoft Office PowerPoint</Application>
  <PresentationFormat>Widescreen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Garamond</vt:lpstr>
      <vt:lpstr>SavonVTI</vt:lpstr>
      <vt:lpstr>Predicting customer churn in teleccomunations</vt:lpstr>
      <vt:lpstr>Application Domain</vt:lpstr>
      <vt:lpstr>Business Problem</vt:lpstr>
      <vt:lpstr>Potential Analytical Solutions</vt:lpstr>
      <vt:lpstr>Solution Comparison and Selection</vt:lpstr>
      <vt:lpstr>Dataset Description</vt:lpstr>
      <vt:lpstr>Data Preparation</vt:lpstr>
      <vt:lpstr>Predictive Models</vt:lpstr>
      <vt:lpstr>Model Evaluation</vt:lpstr>
      <vt:lpstr>Key Drivers of Customer Churn</vt:lpstr>
      <vt:lpstr>Key Drivers of Customer Churn (cont.)</vt:lpstr>
      <vt:lpstr>Discussion</vt:lpstr>
      <vt:lpstr>Distribution of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Oguzhan Bozkurt</dc:creator>
  <cp:lastModifiedBy>Oguzhan Bozkurt</cp:lastModifiedBy>
  <cp:revision>1</cp:revision>
  <dcterms:created xsi:type="dcterms:W3CDTF">2026-03-08T16:26:43Z</dcterms:created>
  <dcterms:modified xsi:type="dcterms:W3CDTF">2026-03-08T20:19:38Z</dcterms:modified>
</cp:coreProperties>
</file>